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393" r:id="rId3"/>
    <p:sldId id="394" r:id="rId4"/>
    <p:sldId id="395" r:id="rId5"/>
    <p:sldId id="396" r:id="rId6"/>
    <p:sldId id="397" r:id="rId7"/>
    <p:sldId id="398" r:id="rId8"/>
    <p:sldId id="399" r:id="rId9"/>
    <p:sldId id="400" r:id="rId10"/>
    <p:sldId id="401" r:id="rId11"/>
    <p:sldId id="402" r:id="rId12"/>
    <p:sldId id="392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0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08" y="5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4ED9C6-6347-4054-BA13-39C2613D0E24}" type="datetimeFigureOut">
              <a:rPr lang="es-PE" smtClean="0"/>
              <a:t>21/09/2026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B78199-CDCD-47B6-AB90-E8328EA1A95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8216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8D6422C3-F11A-4B46-B37E-A782D589D3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33" y="152360"/>
            <a:ext cx="10238510" cy="96491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40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124271F8-DCB0-489A-8F7C-77366A4BB5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8347" y="1632857"/>
            <a:ext cx="10597739" cy="4800600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00000"/>
              </a:lnSpc>
              <a:buNone/>
              <a:defRPr sz="2000">
                <a:latin typeface="Telegraf" panose="00000500000000000000" pitchFamily="50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s-PE" dirty="0"/>
              <a:t>CUERPO DE TEXTO</a:t>
            </a:r>
          </a:p>
          <a:p>
            <a:pPr lvl="0"/>
            <a:r>
              <a:rPr lang="es-PE" dirty="0" err="1"/>
              <a:t>Lorem</a:t>
            </a:r>
            <a:r>
              <a:rPr lang="es-PE" dirty="0"/>
              <a:t> </a:t>
            </a:r>
            <a:r>
              <a:rPr lang="es-PE" dirty="0" err="1"/>
              <a:t>ipsum</a:t>
            </a:r>
            <a:r>
              <a:rPr lang="es-PE" dirty="0"/>
              <a:t> dolor </a:t>
            </a:r>
            <a:r>
              <a:rPr lang="es-PE" dirty="0" err="1"/>
              <a:t>sit</a:t>
            </a:r>
            <a:r>
              <a:rPr lang="es-PE" dirty="0"/>
              <a:t> </a:t>
            </a:r>
            <a:r>
              <a:rPr lang="es-PE" dirty="0" err="1"/>
              <a:t>amet</a:t>
            </a:r>
            <a:r>
              <a:rPr lang="es-PE" dirty="0"/>
              <a:t>, </a:t>
            </a:r>
            <a:r>
              <a:rPr lang="es-PE" dirty="0" err="1"/>
              <a:t>consectetuer</a:t>
            </a:r>
            <a:r>
              <a:rPr lang="es-PE" dirty="0"/>
              <a:t> </a:t>
            </a:r>
            <a:r>
              <a:rPr lang="es-PE" dirty="0" err="1"/>
              <a:t>adipiscing</a:t>
            </a:r>
            <a:r>
              <a:rPr lang="es-PE" dirty="0"/>
              <a:t> </a:t>
            </a:r>
            <a:r>
              <a:rPr lang="es-PE" dirty="0" err="1"/>
              <a:t>elit</a:t>
            </a:r>
            <a:r>
              <a:rPr lang="es-PE" dirty="0"/>
              <a:t>, sed </a:t>
            </a:r>
            <a:r>
              <a:rPr lang="es-PE" dirty="0" err="1"/>
              <a:t>diam</a:t>
            </a:r>
            <a:r>
              <a:rPr lang="es-PE" dirty="0"/>
              <a:t> </a:t>
            </a:r>
            <a:r>
              <a:rPr lang="es-PE" dirty="0" err="1"/>
              <a:t>nonummy</a:t>
            </a:r>
            <a:r>
              <a:rPr lang="es-PE" dirty="0"/>
              <a:t> </a:t>
            </a:r>
            <a:r>
              <a:rPr lang="es-PE" dirty="0" err="1"/>
              <a:t>nibh</a:t>
            </a:r>
            <a:r>
              <a:rPr lang="es-PE" dirty="0"/>
              <a:t> </a:t>
            </a:r>
            <a:r>
              <a:rPr lang="es-PE" dirty="0" err="1"/>
              <a:t>euismod</a:t>
            </a:r>
            <a:r>
              <a:rPr lang="es-PE" dirty="0"/>
              <a:t> </a:t>
            </a:r>
            <a:r>
              <a:rPr lang="es-PE" dirty="0" err="1"/>
              <a:t>tincidunt</a:t>
            </a:r>
            <a:r>
              <a:rPr lang="es-PE" dirty="0"/>
              <a:t> ut </a:t>
            </a:r>
            <a:r>
              <a:rPr lang="es-PE" dirty="0" err="1"/>
              <a:t>laoreet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vulputate</a:t>
            </a:r>
            <a:r>
              <a:rPr lang="es-PE" dirty="0"/>
              <a:t> </a:t>
            </a:r>
            <a:r>
              <a:rPr lang="es-PE" dirty="0" err="1"/>
              <a:t>velit</a:t>
            </a:r>
            <a:r>
              <a:rPr lang="es-PE" dirty="0"/>
              <a:t> </a:t>
            </a:r>
            <a:r>
              <a:rPr lang="es-PE" dirty="0" err="1"/>
              <a:t>esse</a:t>
            </a:r>
            <a:r>
              <a:rPr lang="es-PE" dirty="0"/>
              <a:t> </a:t>
            </a:r>
            <a:r>
              <a:rPr lang="es-PE" dirty="0" err="1"/>
              <a:t>molestie</a:t>
            </a:r>
            <a:r>
              <a:rPr lang="es-PE" dirty="0"/>
              <a:t> </a:t>
            </a:r>
            <a:r>
              <a:rPr lang="es-PE" dirty="0" err="1"/>
              <a:t>consequat</a:t>
            </a:r>
            <a:r>
              <a:rPr lang="es-PE" dirty="0"/>
              <a:t>, </a:t>
            </a:r>
            <a:r>
              <a:rPr lang="es-PE" dirty="0" err="1"/>
              <a:t>vel</a:t>
            </a:r>
            <a:r>
              <a:rPr lang="es-PE" dirty="0"/>
              <a:t> </a:t>
            </a:r>
            <a:r>
              <a:rPr lang="es-PE" dirty="0" err="1"/>
              <a:t>illum</a:t>
            </a:r>
            <a:r>
              <a:rPr lang="es-PE" dirty="0"/>
              <a:t> </a:t>
            </a:r>
            <a:r>
              <a:rPr lang="es-PE" dirty="0" err="1"/>
              <a:t>dolore</a:t>
            </a:r>
            <a:r>
              <a:rPr lang="es-PE" dirty="0"/>
              <a:t> </a:t>
            </a:r>
            <a:r>
              <a:rPr lang="es-PE" dirty="0" err="1"/>
              <a:t>eu</a:t>
            </a:r>
            <a:r>
              <a:rPr lang="es-PE" dirty="0"/>
              <a:t> </a:t>
            </a:r>
            <a:r>
              <a:rPr lang="es-PE" dirty="0" err="1"/>
              <a:t>feugiat</a:t>
            </a:r>
            <a:r>
              <a:rPr lang="es-PE" dirty="0"/>
              <a:t> </a:t>
            </a:r>
            <a:r>
              <a:rPr lang="es-PE" dirty="0" err="1"/>
              <a:t>nulla</a:t>
            </a:r>
            <a:r>
              <a:rPr lang="es-PE" dirty="0"/>
              <a:t> </a:t>
            </a:r>
            <a:r>
              <a:rPr lang="es-PE" dirty="0" err="1"/>
              <a:t>facilisis</a:t>
            </a:r>
            <a:r>
              <a:rPr lang="es-PE" dirty="0"/>
              <a:t> at vero eros et </a:t>
            </a:r>
            <a:r>
              <a:rPr lang="es-PE" dirty="0" err="1"/>
              <a:t>accumsan</a:t>
            </a:r>
            <a:r>
              <a:rPr lang="es-PE" dirty="0"/>
              <a:t> et</a:t>
            </a:r>
          </a:p>
        </p:txBody>
      </p:sp>
    </p:spTree>
    <p:extLst>
      <p:ext uri="{BB962C8B-B14F-4D97-AF65-F5344CB8AC3E}">
        <p14:creationId xmlns:p14="http://schemas.microsoft.com/office/powerpoint/2010/main" val="2679557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o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5">
            <a:extLst>
              <a:ext uri="{FF2B5EF4-FFF2-40B4-BE49-F238E27FC236}">
                <a16:creationId xmlns:a16="http://schemas.microsoft.com/office/drawing/2014/main" id="{FE4A6788-DF4C-8025-97FD-5544363618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833" y="152360"/>
            <a:ext cx="10238510" cy="964911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4000">
                <a:latin typeface="Sharp Grotesk Bold 15" panose="00000806000000000000" pitchFamily="50" charset="0"/>
              </a:defRPr>
            </a:lvl1pPr>
          </a:lstStyle>
          <a:p>
            <a:r>
              <a:rPr lang="es-ES" dirty="0"/>
              <a:t>TÍTULO XXXXXXXX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61037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sitorio.upn.edu.pe/handle/11537/29607" TargetMode="External"/><Relationship Id="rId2" Type="http://schemas.openxmlformats.org/officeDocument/2006/relationships/hyperlink" Target="https://biblioteca.upn.edu.pe/" TargetMode="Externa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B9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object 2">
            <a:extLst>
              <a:ext uri="{FF2B5EF4-FFF2-40B4-BE49-F238E27FC236}">
                <a16:creationId xmlns:a16="http://schemas.microsoft.com/office/drawing/2014/main" id="{C802DD12-93D3-D517-AF34-9D71A0F3E0D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38100" y="0"/>
            <a:ext cx="12192000" cy="68579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54773" y="1874025"/>
            <a:ext cx="7102548" cy="1731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750" b="0" i="0" u="none" dirty="0">
                <a:solidFill>
                  <a:srgbClr val="FFFFFF"/>
                </a:solidFill>
                <a:latin typeface="Poppins ExtraBold"/>
              </a:rPr>
              <a:t>TEMA </a:t>
            </a:r>
            <a:r>
              <a:rPr lang="es-ES" sz="3750" b="0" i="0" u="none">
                <a:solidFill>
                  <a:srgbClr val="FFFFFF"/>
                </a:solidFill>
                <a:latin typeface="Poppins ExtraBold"/>
              </a:rPr>
              <a:t>6</a:t>
            </a:r>
            <a:r>
              <a:rPr sz="3750" b="0" i="0" u="none">
                <a:solidFill>
                  <a:srgbClr val="FFFFFF"/>
                </a:solidFill>
                <a:latin typeface="Poppins ExtraBold"/>
              </a:rPr>
              <a:t>: </a:t>
            </a:r>
            <a:r>
              <a:rPr lang="es-ES" sz="3750" dirty="0">
                <a:solidFill>
                  <a:srgbClr val="FFFFFF"/>
                </a:solidFill>
                <a:latin typeface="Poppins ExtraBold"/>
              </a:rPr>
              <a:t>Análisis y visualización de datos empresariales</a:t>
            </a:r>
            <a:endParaRPr sz="3750" dirty="0">
              <a:solidFill>
                <a:srgbClr val="FFFFFF"/>
              </a:solidFill>
              <a:latin typeface="Poppins ExtraBold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1005" y="132638"/>
            <a:ext cx="106680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 u="none" dirty="0">
                <a:solidFill>
                  <a:srgbClr val="FFFFFF"/>
                </a:solidFill>
                <a:latin typeface="Poppins ExtraBold"/>
              </a:rPr>
              <a:t>UPN, PASIÓN POR TRANSFORMAR VIDAS</a:t>
            </a:r>
          </a:p>
        </p:txBody>
      </p:sp>
      <p:sp>
        <p:nvSpPr>
          <p:cNvPr id="8" name="object 5">
            <a:extLst>
              <a:ext uri="{FF2B5EF4-FFF2-40B4-BE49-F238E27FC236}">
                <a16:creationId xmlns:a16="http://schemas.microsoft.com/office/drawing/2014/main" id="{D6AC7169-392A-ED46-CD41-BA246918768B}"/>
              </a:ext>
            </a:extLst>
          </p:cNvPr>
          <p:cNvSpPr txBox="1"/>
          <p:nvPr/>
        </p:nvSpPr>
        <p:spPr>
          <a:xfrm>
            <a:off x="5872851" y="5901527"/>
            <a:ext cx="4398202" cy="8867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s-ES" sz="2800" b="1" dirty="0" err="1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Ing</a:t>
            </a:r>
            <a:r>
              <a:rPr sz="2800" b="1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.</a:t>
            </a:r>
            <a:r>
              <a:rPr sz="2800" b="1" spc="-1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 </a:t>
            </a:r>
            <a:r>
              <a:rPr lang="es-ES" sz="2800" b="1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rPr>
              <a:t>Andres E. Araujo Acuña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7AD4EF5-6D71-6D07-6890-3BD598378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94" y="0"/>
            <a:ext cx="105822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427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8DD3E01-2F15-E580-8FB7-3122E49B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6507"/>
            <a:ext cx="12192000" cy="580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979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023B920-99B3-2112-71B7-B90710EC6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579"/>
            <a:ext cx="12192000" cy="575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731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1F8691-7ABB-20C9-D9DE-5661E8158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0136"/>
            <a:ext cx="12192000" cy="6137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4997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36D94D5-308F-6BF3-E530-73ECAE7DD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2075"/>
            <a:ext cx="12192000" cy="639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987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256F108-D505-C21D-C726-67DC96FA0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614"/>
            <a:ext cx="12192000" cy="593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27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3E092B2-9DFF-991B-8CC6-99AFC013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0990"/>
            <a:ext cx="12192000" cy="625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579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DFA10AA-41CE-D06B-F311-C51AE53DC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615"/>
            <a:ext cx="12192000" cy="648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7559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C127C55-31F0-E5B3-9392-CE99DEC4B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0455"/>
            <a:ext cx="12192000" cy="5897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89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C622ADC-E3D2-9995-0B57-7DB3D95B9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77" y="0"/>
            <a:ext cx="11831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96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374C9-F2DF-3B9C-B438-47BDCBF88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1CD00E-18A5-A602-FA90-EEB37C092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BIBLIOGRAFIA REFERENCIAL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C33B2F3-D9E8-88C7-3A83-2123755952D4}"/>
              </a:ext>
            </a:extLst>
          </p:cNvPr>
          <p:cNvSpPr txBox="1"/>
          <p:nvPr/>
        </p:nvSpPr>
        <p:spPr>
          <a:xfrm>
            <a:off x="433633" y="1527142"/>
            <a:ext cx="10831398" cy="5033914"/>
          </a:xfrm>
          <a:prstGeom prst="rect">
            <a:avLst/>
          </a:prstGeom>
        </p:spPr>
        <p:txBody>
          <a:bodyPr vert="horz" wrap="square" lIns="108000" tIns="108000" rIns="108000" bIns="108000" rtlCol="0" anchor="t" anchorCtr="0">
            <a:normAutofit/>
          </a:bodyPr>
          <a:lstStyle/>
          <a:p>
            <a:pPr marL="12065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tabLst>
                <a:tab pos="241935" algn="l"/>
              </a:tabLst>
            </a:pP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9328100-CD2A-B294-DAF3-0B319CBB0BC1}"/>
              </a:ext>
            </a:extLst>
          </p:cNvPr>
          <p:cNvSpPr txBox="1"/>
          <p:nvPr/>
        </p:nvSpPr>
        <p:spPr>
          <a:xfrm>
            <a:off x="586033" y="1679542"/>
            <a:ext cx="10831398" cy="3987162"/>
          </a:xfrm>
          <a:prstGeom prst="rect">
            <a:avLst/>
          </a:prstGeom>
        </p:spPr>
        <p:txBody>
          <a:bodyPr vert="horz" wrap="square" lIns="108000" tIns="108000" rIns="108000" bIns="108000" rtlCol="0" anchor="t" anchorCtr="0">
            <a:no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Universidad Privada del Norte. (s. f.). </a:t>
            </a:r>
            <a:r>
              <a:rPr lang="es-PE" i="1" dirty="0">
                <a:latin typeface="Arial" panose="020B0604020202020204" pitchFamily="34" charset="0"/>
                <a:cs typeface="Arial" panose="020B0604020202020204" pitchFamily="34" charset="0"/>
              </a:rPr>
              <a:t>Biblioteca Virtual UPN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https://biblioteca.upn.edu.pe/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Universidad Privada del Norte. (s. f.). </a:t>
            </a:r>
            <a:r>
              <a:rPr lang="es-PE" i="1" dirty="0">
                <a:latin typeface="Arial" panose="020B0604020202020204" pitchFamily="34" charset="0"/>
                <a:cs typeface="Arial" panose="020B0604020202020204" pitchFamily="34" charset="0"/>
              </a:rPr>
              <a:t>Sistema de inteligencia de negocios en la administración de cultivos para la producción agrícola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. Repositorio Institucional UPN. 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https://repositorio.upn.edu.pe/handle/11537/29607</a:t>
            </a: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s-P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[Autor no identificado]. (2023). </a:t>
            </a:r>
            <a:r>
              <a:rPr lang="es-PE" i="1" dirty="0">
                <a:latin typeface="Arial" panose="020B0604020202020204" pitchFamily="34" charset="0"/>
                <a:cs typeface="Arial" panose="020B0604020202020204" pitchFamily="34" charset="0"/>
              </a:rPr>
              <a:t>Utilización de un marco de inteligencia de negocios y minería de datos como herramientas computacionales en las PYMES: Pronóstico de producción de una planta de energía hidroeléctrica como caso de estudio</a:t>
            </a:r>
            <a:r>
              <a:rPr lang="es-PE" dirty="0">
                <a:latin typeface="Arial" panose="020B0604020202020204" pitchFamily="34" charset="0"/>
                <a:cs typeface="Arial" panose="020B0604020202020204" pitchFamily="34" charset="0"/>
              </a:rPr>
              <a:t>. LACCEI. https://laccei.org/LACCEI2023-BuenosAires/meta/FP832.html</a:t>
            </a:r>
          </a:p>
        </p:txBody>
      </p:sp>
    </p:spTree>
    <p:extLst>
      <p:ext uri="{BB962C8B-B14F-4D97-AF65-F5344CB8AC3E}">
        <p14:creationId xmlns:p14="http://schemas.microsoft.com/office/powerpoint/2010/main" val="19905179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Logotipo&#10;&#10;Descripción generada automáticamente">
            <a:extLst>
              <a:ext uri="{FF2B5EF4-FFF2-40B4-BE49-F238E27FC236}">
                <a16:creationId xmlns:a16="http://schemas.microsoft.com/office/drawing/2014/main" id="{946A9F4B-A13F-4BFE-9CFB-4E66F292E5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979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146</Words>
  <Application>Microsoft Office PowerPoint</Application>
  <PresentationFormat>Panorámica</PresentationFormat>
  <Paragraphs>9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Poppins ExtraBold</vt:lpstr>
      <vt:lpstr>Sharp Grotesk Bold 15</vt:lpstr>
      <vt:lpstr>Telegraf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BIBLIOGRAFIA REFERENCIAL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Andres Elias Araujo Acuna</cp:lastModifiedBy>
  <cp:revision>20</cp:revision>
  <dcterms:created xsi:type="dcterms:W3CDTF">2013-01-27T09:14:16Z</dcterms:created>
  <dcterms:modified xsi:type="dcterms:W3CDTF">2026-09-21T21:40:14Z</dcterms:modified>
  <cp:category/>
</cp:coreProperties>
</file>